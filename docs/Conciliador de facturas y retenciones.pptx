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Arrancar por el dolor del equipo: hoy la conciliación entre facturas de proveedores y el registro contable se hace a mano. Eso consume tiempo, depende de la atención de la persona y es fácil que se escapen duplicados, campos vacíos o diferencias en IVA y retenciones.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no cambia cómo trabaja el equipo: usa los mismos dos archivos que ya se manejan, el de facturas y el de contabilidad. La herramienta hace tres cosas: valida los cálculos de cada factura, la cruza con el registro contable y explica en palabras simples por qué una factura no cuadra.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el uso es simple: cargar, revisar, conciliar y ver. El paso dos protege al usuario: si un archivo viene vacío, con columnas faltantes o en otro formato, se le dice qué está mal en lugar de dar un resultado equivocado. Si hay tiempo, hacer la demo en vivo en este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los archivos de prueba entregados, la herramienta revisó 50 facturas: 28 están correctas y 22 tienen al menos un hallazgo. Una misma factura puede tener varias causas, por eso la suma de la tabla es mayor que 22. Lo más frecuente fue el registro contable duplicado. Lo importante: el equipo pasa de revisar 50 facturas a revisar solo 22, y ya sabe qué buscar en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el valor para el equipo funcional: menos tiempo operativo, menos errores porque las reglas son siempre las mismas, foco solo en las facturas con problemas y una explicación clara de cada hallazgo. Como siguiente paso se puede validar el prototipo con archivos reales del equipo y ajustar las reglas con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412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2C2A29"/>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44700"/>
            <a:ext cx="10566400" cy="4000500"/>
          </a:xfrm>
          <a:prstGeom prst="rect">
            <a:avLst/>
          </a:prstGeom>
          <a:noFill/>
          <a:ln/>
        </p:spPr>
        <p:txBody>
          <a:bodyPr wrap="square" lIns="0" tIns="0" rIns="0" bIns="0" rtlCol="0" anchor="t"/>
          <a:lstStyle>
            <a:lvl1pPr algn="l" indent="0" marL="0">
              <a:lnSpc>
                <a:spcPct val="140000"/>
              </a:lnSpc>
              <a:buNone/>
              <a:defRPr lang="en-US" sz="1600" dirty="0">
                <a:solidFill>
                  <a:srgbClr val="2C2A29"/>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412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2C2A29"/>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44700"/>
            <a:ext cx="10566400" cy="4000500"/>
          </a:xfrm>
          <a:prstGeom prst="rect">
            <a:avLst/>
          </a:prstGeom>
          <a:noFill/>
          <a:ln/>
        </p:spPr>
        <p:txBody>
          <a:bodyPr wrap="square" lIns="0" tIns="0" rIns="0" bIns="0" rtlCol="0" anchor="t"/>
          <a:lstStyle>
            <a:lvl1pPr algn="l" indent="0" marL="0">
              <a:lnSpc>
                <a:spcPct val="140000"/>
              </a:lnSpc>
              <a:buNone/>
              <a:defRPr lang="en-US" sz="1600" dirty="0">
                <a:solidFill>
                  <a:srgbClr val="2C2A29"/>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A29"/>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DDA24"/>
          </a:solidFill>
          <a:ln/>
        </p:spPr>
      </p:sp>
      <p:sp>
        <p:nvSpPr>
          <p:cNvPr id="3" name="Text 1"/>
          <p:cNvSpPr/>
          <p:nvPr/>
        </p:nvSpPr>
        <p:spPr>
          <a:xfrm>
            <a:off x="812800" y="10414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DDA24"/>
                </a:solidFill>
                <a:latin typeface="DM Sans" pitchFamily="34" charset="0"/>
                <a:ea typeface="DM Sans" pitchFamily="34" charset="-122"/>
                <a:cs typeface="DM Sans" pitchFamily="34" charset="-120"/>
              </a:rPr>
              <a:t>PROTOTIPO · EL PROBLEMA</a:t>
            </a:r>
            <a:endParaRPr lang="en-US" sz="1400" dirty="0"/>
          </a:p>
        </p:txBody>
      </p:sp>
      <p:sp>
        <p:nvSpPr>
          <p:cNvPr id="4" name="Text 2"/>
          <p:cNvSpPr/>
          <p:nvPr>
            <p:ph type="title"/>
          </p:nvPr>
        </p:nvSpPr>
        <p:spPr>
          <a:xfrm>
            <a:off x="812800" y="1442720"/>
            <a:ext cx="11379200" cy="64008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6F2"/>
                </a:solidFill>
                <a:latin typeface="DM Sans" pitchFamily="34" charset="0"/>
                <a:ea typeface="DM Sans" pitchFamily="34" charset="-122"/>
                <a:cs typeface="DM Sans" pitchFamily="34" charset="-120"/>
              </a:rPr>
              <a:t>Conciliador de facturas y retenciones</a:t>
            </a:r>
            <a:endParaRPr lang="en-US" sz="4400" dirty="0"/>
          </a:p>
        </p:txBody>
      </p:sp>
      <p:sp>
        <p:nvSpPr>
          <p:cNvPr id="5" name="Text 3"/>
          <p:cNvSpPr/>
          <p:nvPr/>
        </p:nvSpPr>
        <p:spPr>
          <a:xfrm>
            <a:off x="812800" y="2209800"/>
            <a:ext cx="915670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D6D3CC"/>
                </a:solidFill>
                <a:latin typeface="DM Sans" pitchFamily="34" charset="0"/>
                <a:ea typeface="DM Sans" pitchFamily="34" charset="-122"/>
                <a:cs typeface="DM Sans" pitchFamily="34" charset="-120"/>
              </a:rPr>
              <a:t>Hoy, comprobar que cada factura de proveedor esté bien calculada y registrada en contabilidad es una revisión manual, fila por fila.</a:t>
            </a:r>
            <a:endParaRPr lang="en-US" sz="1700" dirty="0"/>
          </a:p>
        </p:txBody>
      </p:sp>
      <p:sp>
        <p:nvSpPr>
          <p:cNvPr id="6" name="Shape 4"/>
          <p:cNvSpPr/>
          <p:nvPr/>
        </p:nvSpPr>
        <p:spPr>
          <a:xfrm>
            <a:off x="812800" y="3797300"/>
            <a:ext cx="3390900" cy="1644650"/>
          </a:xfrm>
          <a:prstGeom prst="roundRect">
            <a:avLst>
              <a:gd name="adj" fmla="val 6178"/>
            </a:avLst>
          </a:prstGeom>
          <a:solidFill>
            <a:srgbClr val="3A3836"/>
          </a:solidFill>
          <a:ln/>
        </p:spPr>
      </p:sp>
      <p:sp>
        <p:nvSpPr>
          <p:cNvPr id="7" name="Shape 5"/>
          <p:cNvSpPr/>
          <p:nvPr/>
        </p:nvSpPr>
        <p:spPr>
          <a:xfrm>
            <a:off x="812800" y="3797300"/>
            <a:ext cx="3390900" cy="1644650"/>
          </a:xfrm>
          <a:custGeom>
            <a:avLst/>
            <a:gdLst/>
            <a:ahLst/>
            <a:cxnLst/>
            <a:rect l="l" t="t" r="r" b="b"/>
            <a:pathLst>
              <a:path w="3390900" h="1644650">
                <a:moveTo>
                  <a:pt x="0" y="101600"/>
                </a:moveTo>
                <a:lnTo>
                  <a:pt x="0" y="101600"/>
                </a:lnTo>
                <a:arcTo hR="101600" wR="101600" stAng="10800000" swAng="5400000"/>
                <a:lnTo>
                  <a:pt x="3289300" y="0"/>
                </a:lnTo>
                <a:arcTo hR="101600" wR="101600" stAng="16200000" swAng="5400000"/>
                <a:lnTo>
                  <a:pt x="3390900" y="101600"/>
                </a:lnTo>
                <a:arcTo hR="63500" wR="101600" stAng="0" swAng="-5400000"/>
                <a:lnTo>
                  <a:pt x="101600" y="38100"/>
                </a:lnTo>
                <a:arcTo hR="63500" wR="101600" stAng="16200000" swAng="-5400000"/>
                <a:close/>
              </a:path>
            </a:pathLst>
          </a:custGeom>
          <a:solidFill>
            <a:srgbClr val="FDDA24"/>
          </a:solidFill>
          <a:ln/>
        </p:spPr>
      </p:sp>
      <p:sp>
        <p:nvSpPr>
          <p:cNvPr id="8" name="Text 6"/>
          <p:cNvSpPr/>
          <p:nvPr/>
        </p:nvSpPr>
        <p:spPr>
          <a:xfrm>
            <a:off x="1066800" y="4086860"/>
            <a:ext cx="29693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DM Sans" pitchFamily="34" charset="0"/>
                <a:ea typeface="DM Sans" pitchFamily="34" charset="-122"/>
                <a:cs typeface="DM Sans" pitchFamily="34" charset="-120"/>
              </a:rPr>
              <a:t>Toma tiempo</a:t>
            </a:r>
            <a:endParaRPr lang="en-US" sz="1800" dirty="0"/>
          </a:p>
        </p:txBody>
      </p:sp>
      <p:sp>
        <p:nvSpPr>
          <p:cNvPr id="9" name="Text 7"/>
          <p:cNvSpPr/>
          <p:nvPr/>
        </p:nvSpPr>
        <p:spPr>
          <a:xfrm>
            <a:off x="1066800" y="4437380"/>
            <a:ext cx="296938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3CC"/>
                </a:solidFill>
                <a:latin typeface="DM Sans" pitchFamily="34" charset="0"/>
                <a:ea typeface="DM Sans" pitchFamily="34" charset="-122"/>
                <a:cs typeface="DM Sans" pitchFamily="34" charset="-120"/>
              </a:rPr>
              <a:t>Cada factura exige recalcular IVA, retención y total a mano.</a:t>
            </a:r>
            <a:endParaRPr lang="en-US" sz="1400" dirty="0"/>
          </a:p>
        </p:txBody>
      </p:sp>
      <p:sp>
        <p:nvSpPr>
          <p:cNvPr id="10" name="Shape 8"/>
          <p:cNvSpPr/>
          <p:nvPr/>
        </p:nvSpPr>
        <p:spPr>
          <a:xfrm>
            <a:off x="4400550" y="3797300"/>
            <a:ext cx="3390900" cy="1644650"/>
          </a:xfrm>
          <a:prstGeom prst="roundRect">
            <a:avLst>
              <a:gd name="adj" fmla="val 6178"/>
            </a:avLst>
          </a:prstGeom>
          <a:solidFill>
            <a:srgbClr val="3A3836"/>
          </a:solidFill>
          <a:ln/>
        </p:spPr>
      </p:sp>
      <p:sp>
        <p:nvSpPr>
          <p:cNvPr id="11" name="Shape 9"/>
          <p:cNvSpPr/>
          <p:nvPr/>
        </p:nvSpPr>
        <p:spPr>
          <a:xfrm>
            <a:off x="4400550" y="3797300"/>
            <a:ext cx="3390900" cy="1644650"/>
          </a:xfrm>
          <a:custGeom>
            <a:avLst/>
            <a:gdLst/>
            <a:ahLst/>
            <a:cxnLst/>
            <a:rect l="l" t="t" r="r" b="b"/>
            <a:pathLst>
              <a:path w="3390900" h="1644650">
                <a:moveTo>
                  <a:pt x="0" y="101600"/>
                </a:moveTo>
                <a:lnTo>
                  <a:pt x="0" y="101600"/>
                </a:lnTo>
                <a:arcTo hR="101600" wR="101600" stAng="10800000" swAng="5400000"/>
                <a:lnTo>
                  <a:pt x="3289300" y="0"/>
                </a:lnTo>
                <a:arcTo hR="101600" wR="101600" stAng="16200000" swAng="5400000"/>
                <a:lnTo>
                  <a:pt x="3390900" y="101600"/>
                </a:lnTo>
                <a:arcTo hR="63500" wR="101600" stAng="0" swAng="-5400000"/>
                <a:lnTo>
                  <a:pt x="101600" y="38100"/>
                </a:lnTo>
                <a:arcTo hR="63500" wR="101600" stAng="16200000" swAng="-5400000"/>
                <a:close/>
              </a:path>
            </a:pathLst>
          </a:custGeom>
          <a:solidFill>
            <a:srgbClr val="FDDA24"/>
          </a:solidFill>
          <a:ln/>
        </p:spPr>
      </p:sp>
      <p:sp>
        <p:nvSpPr>
          <p:cNvPr id="12" name="Text 10"/>
          <p:cNvSpPr/>
          <p:nvPr/>
        </p:nvSpPr>
        <p:spPr>
          <a:xfrm>
            <a:off x="4654550" y="4086860"/>
            <a:ext cx="29693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DM Sans" pitchFamily="34" charset="0"/>
                <a:ea typeface="DM Sans" pitchFamily="34" charset="-122"/>
                <a:cs typeface="DM Sans" pitchFamily="34" charset="-120"/>
              </a:rPr>
              <a:t>Se escapan errores</a:t>
            </a:r>
            <a:endParaRPr lang="en-US" sz="1800" dirty="0"/>
          </a:p>
        </p:txBody>
      </p:sp>
      <p:sp>
        <p:nvSpPr>
          <p:cNvPr id="13" name="Text 11"/>
          <p:cNvSpPr/>
          <p:nvPr/>
        </p:nvSpPr>
        <p:spPr>
          <a:xfrm>
            <a:off x="4654550" y="4437380"/>
            <a:ext cx="296938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3CC"/>
                </a:solidFill>
                <a:latin typeface="DM Sans" pitchFamily="34" charset="0"/>
                <a:ea typeface="DM Sans" pitchFamily="34" charset="-122"/>
                <a:cs typeface="DM Sans" pitchFamily="34" charset="-120"/>
              </a:rPr>
              <a:t>Duplicados, datos vacíos o diferencias pequeñas pasan sin ser vistos.</a:t>
            </a:r>
            <a:endParaRPr lang="en-US" sz="1400" dirty="0"/>
          </a:p>
        </p:txBody>
      </p:sp>
      <p:sp>
        <p:nvSpPr>
          <p:cNvPr id="14" name="Shape 12"/>
          <p:cNvSpPr/>
          <p:nvPr/>
        </p:nvSpPr>
        <p:spPr>
          <a:xfrm>
            <a:off x="7988300" y="3797300"/>
            <a:ext cx="3390900" cy="1644650"/>
          </a:xfrm>
          <a:prstGeom prst="roundRect">
            <a:avLst>
              <a:gd name="adj" fmla="val 6178"/>
            </a:avLst>
          </a:prstGeom>
          <a:solidFill>
            <a:srgbClr val="3A3836"/>
          </a:solidFill>
          <a:ln/>
        </p:spPr>
      </p:sp>
      <p:sp>
        <p:nvSpPr>
          <p:cNvPr id="15" name="Shape 13"/>
          <p:cNvSpPr/>
          <p:nvPr/>
        </p:nvSpPr>
        <p:spPr>
          <a:xfrm>
            <a:off x="7988300" y="3797300"/>
            <a:ext cx="3390900" cy="1644650"/>
          </a:xfrm>
          <a:custGeom>
            <a:avLst/>
            <a:gdLst/>
            <a:ahLst/>
            <a:cxnLst/>
            <a:rect l="l" t="t" r="r" b="b"/>
            <a:pathLst>
              <a:path w="3390900" h="1644650">
                <a:moveTo>
                  <a:pt x="0" y="101600"/>
                </a:moveTo>
                <a:lnTo>
                  <a:pt x="0" y="101600"/>
                </a:lnTo>
                <a:arcTo hR="101600" wR="101600" stAng="10800000" swAng="5400000"/>
                <a:lnTo>
                  <a:pt x="3289300" y="0"/>
                </a:lnTo>
                <a:arcTo hR="101600" wR="101600" stAng="16200000" swAng="5400000"/>
                <a:lnTo>
                  <a:pt x="3390900" y="101600"/>
                </a:lnTo>
                <a:arcTo hR="63500" wR="101600" stAng="0" swAng="-5400000"/>
                <a:lnTo>
                  <a:pt x="101600" y="38100"/>
                </a:lnTo>
                <a:arcTo hR="63500" wR="101600" stAng="16200000" swAng="-5400000"/>
                <a:close/>
              </a:path>
            </a:pathLst>
          </a:custGeom>
          <a:solidFill>
            <a:srgbClr val="FDDA24"/>
          </a:solidFill>
          <a:ln/>
        </p:spPr>
      </p:sp>
      <p:sp>
        <p:nvSpPr>
          <p:cNvPr id="16" name="Text 14"/>
          <p:cNvSpPr/>
          <p:nvPr/>
        </p:nvSpPr>
        <p:spPr>
          <a:xfrm>
            <a:off x="8242300" y="4086860"/>
            <a:ext cx="29693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DM Sans" pitchFamily="34" charset="0"/>
                <a:ea typeface="DM Sans" pitchFamily="34" charset="-122"/>
                <a:cs typeface="DM Sans" pitchFamily="34" charset="-120"/>
              </a:rPr>
              <a:t>Dos fuentes separadas</a:t>
            </a:r>
            <a:endParaRPr lang="en-US" sz="1800" dirty="0"/>
          </a:p>
        </p:txBody>
      </p:sp>
      <p:sp>
        <p:nvSpPr>
          <p:cNvPr id="17" name="Text 15"/>
          <p:cNvSpPr/>
          <p:nvPr/>
        </p:nvSpPr>
        <p:spPr>
          <a:xfrm>
            <a:off x="8242300" y="4437380"/>
            <a:ext cx="296938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3CC"/>
                </a:solidFill>
                <a:latin typeface="DM Sans" pitchFamily="34" charset="0"/>
                <a:ea typeface="DM Sans" pitchFamily="34" charset="-122"/>
                <a:cs typeface="DM Sans" pitchFamily="34" charset="-120"/>
              </a:rPr>
              <a:t>Facturas y contabilidad se cruzan manualmente para saber qué falta.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9906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6400"/>
                </a:solidFill>
                <a:latin typeface="DM Sans" pitchFamily="34" charset="0"/>
                <a:ea typeface="DM Sans" pitchFamily="34" charset="-122"/>
                <a:cs typeface="DM Sans" pitchFamily="34" charset="-120"/>
              </a:rPr>
              <a:t>LA SOLUCIÓN PROPUESTA</a:t>
            </a:r>
            <a:endParaRPr lang="en-US" sz="1400" dirty="0"/>
          </a:p>
        </p:txBody>
      </p:sp>
      <p:sp>
        <p:nvSpPr>
          <p:cNvPr id="3" name="Text 1"/>
          <p:cNvSpPr/>
          <p:nvPr>
            <p:ph type="title"/>
          </p:nvPr>
        </p:nvSpPr>
        <p:spPr>
          <a:xfrm>
            <a:off x="812800" y="1391920"/>
            <a:ext cx="9810750"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2C2A29"/>
                </a:solidFill>
                <a:latin typeface="DM Sans" pitchFamily="34" charset="0"/>
                <a:ea typeface="DM Sans" pitchFamily="34" charset="-122"/>
                <a:cs typeface="DM Sans" pitchFamily="34" charset="-120"/>
              </a:rPr>
              <a:t>Una herramienta que revisa cada factura por el equipo</a:t>
            </a:r>
            <a:endParaRPr lang="en-US" sz="3600" dirty="0"/>
          </a:p>
        </p:txBody>
      </p:sp>
      <p:sp>
        <p:nvSpPr>
          <p:cNvPr id="4" name="Text 2"/>
          <p:cNvSpPr/>
          <p:nvPr/>
        </p:nvSpPr>
        <p:spPr>
          <a:xfrm>
            <a:off x="812800" y="2595880"/>
            <a:ext cx="91567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5524F"/>
                </a:solidFill>
                <a:latin typeface="DM Sans" pitchFamily="34" charset="0"/>
                <a:ea typeface="DM Sans" pitchFamily="34" charset="-122"/>
                <a:cs typeface="DM Sans" pitchFamily="34" charset="-120"/>
              </a:rPr>
              <a:t>Se cargan los dos archivos que ya existen y, en segundos, se obtiene qué facturas están bien y cuáles requieren atención, con el motivo.</a:t>
            </a:r>
            <a:endParaRPr lang="en-US" sz="1600" dirty="0"/>
          </a:p>
        </p:txBody>
      </p:sp>
      <p:sp>
        <p:nvSpPr>
          <p:cNvPr id="5" name="Shape 3"/>
          <p:cNvSpPr/>
          <p:nvPr/>
        </p:nvSpPr>
        <p:spPr>
          <a:xfrm>
            <a:off x="812800" y="3613150"/>
            <a:ext cx="3386614" cy="2089150"/>
          </a:xfrm>
          <a:prstGeom prst="roundRect">
            <a:avLst>
              <a:gd name="adj" fmla="val 4863"/>
            </a:avLst>
          </a:prstGeom>
          <a:solidFill>
            <a:srgbClr val="FFFFFF"/>
          </a:solidFill>
          <a:ln/>
          <a:effectLst>
            <a:outerShdw sx="100000" sy="100000" kx="0" ky="0" algn="bl" rotWithShape="0" blurRad="152400" dist="25400" dir="5400000">
              <a:srgbClr val="2C2A29">
                <a:alpha val="8000"/>
              </a:srgbClr>
            </a:outerShdw>
          </a:effectLst>
        </p:spPr>
      </p:sp>
      <p:sp>
        <p:nvSpPr>
          <p:cNvPr id="6" name="Shape 4"/>
          <p:cNvSpPr/>
          <p:nvPr/>
        </p:nvSpPr>
        <p:spPr>
          <a:xfrm>
            <a:off x="1066800" y="3867150"/>
            <a:ext cx="355600" cy="355600"/>
          </a:xfrm>
          <a:prstGeom prst="rect">
            <a:avLst/>
          </a:prstGeom>
          <a:solidFill>
            <a:srgbClr val="FDDA24"/>
          </a:solidFill>
          <a:ln/>
        </p:spPr>
      </p:sp>
      <p:pic>
        <p:nvPicPr>
          <p:cNvPr id="7" name="Image 0" descr="Check">    </p:cNvPr>
          <p:cNvPicPr>
            <a:picLocks noChangeAspect="1"/>
          </p:cNvPicPr>
          <p:nvPr/>
        </p:nvPicPr>
        <p:blipFill>
          <a:blip r:embed="rId1"/>
          <a:srcRect l="0" r="0" t="0" b="0"/>
          <a:stretch/>
        </p:blipFill>
        <p:spPr>
          <a:xfrm>
            <a:off x="1066800" y="3867150"/>
            <a:ext cx="355600" cy="355600"/>
          </a:xfrm>
          <a:prstGeom prst="rect">
            <a:avLst/>
          </a:prstGeom>
        </p:spPr>
      </p:pic>
      <p:sp>
        <p:nvSpPr>
          <p:cNvPr id="8" name="Text 5"/>
          <p:cNvSpPr/>
          <p:nvPr/>
        </p:nvSpPr>
        <p:spPr>
          <a:xfrm>
            <a:off x="1066800" y="4324350"/>
            <a:ext cx="29649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C2A29"/>
                </a:solidFill>
                <a:latin typeface="DM Sans" pitchFamily="34" charset="0"/>
                <a:ea typeface="DM Sans" pitchFamily="34" charset="-122"/>
                <a:cs typeface="DM Sans" pitchFamily="34" charset="-120"/>
              </a:rPr>
              <a:t>Valida los cálculos</a:t>
            </a:r>
            <a:endParaRPr lang="en-US" sz="1800" dirty="0"/>
          </a:p>
        </p:txBody>
      </p:sp>
      <p:sp>
        <p:nvSpPr>
          <p:cNvPr id="9" name="Text 6"/>
          <p:cNvSpPr/>
          <p:nvPr/>
        </p:nvSpPr>
        <p:spPr>
          <a:xfrm>
            <a:off x="1066800" y="4700270"/>
            <a:ext cx="296497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24F"/>
                </a:solidFill>
                <a:latin typeface="DM Sans" pitchFamily="34" charset="0"/>
                <a:ea typeface="DM Sans" pitchFamily="34" charset="-122"/>
                <a:cs typeface="DM Sans" pitchFamily="34" charset="-120"/>
              </a:rPr>
              <a:t>Comprueba IVA, retención y total de cada factura.</a:t>
            </a:r>
            <a:endParaRPr lang="en-US" sz="1400" dirty="0"/>
          </a:p>
        </p:txBody>
      </p:sp>
      <p:sp>
        <p:nvSpPr>
          <p:cNvPr id="10" name="Shape 7"/>
          <p:cNvSpPr/>
          <p:nvPr/>
        </p:nvSpPr>
        <p:spPr>
          <a:xfrm>
            <a:off x="4402614" y="3613150"/>
            <a:ext cx="3386693" cy="2089150"/>
          </a:xfrm>
          <a:prstGeom prst="roundRect">
            <a:avLst>
              <a:gd name="adj" fmla="val 4863"/>
            </a:avLst>
          </a:prstGeom>
          <a:solidFill>
            <a:srgbClr val="FFFFFF"/>
          </a:solidFill>
          <a:ln/>
          <a:effectLst>
            <a:outerShdw sx="100000" sy="100000" kx="0" ky="0" algn="bl" rotWithShape="0" blurRad="152400" dist="25400" dir="5400000">
              <a:srgbClr val="2C2A29">
                <a:alpha val="8000"/>
              </a:srgbClr>
            </a:outerShdw>
          </a:effectLst>
        </p:spPr>
      </p:sp>
      <p:sp>
        <p:nvSpPr>
          <p:cNvPr id="11" name="Shape 8"/>
          <p:cNvSpPr/>
          <p:nvPr/>
        </p:nvSpPr>
        <p:spPr>
          <a:xfrm>
            <a:off x="4656614" y="3867150"/>
            <a:ext cx="355600" cy="355600"/>
          </a:xfrm>
          <a:prstGeom prst="rect">
            <a:avLst/>
          </a:prstGeom>
          <a:solidFill>
            <a:srgbClr val="FDDA24"/>
          </a:solidFill>
          <a:ln/>
        </p:spPr>
      </p:sp>
      <p:pic>
        <p:nvPicPr>
          <p:cNvPr id="12" name="Image 1" descr="Link">    </p:cNvPr>
          <p:cNvPicPr>
            <a:picLocks noChangeAspect="1"/>
          </p:cNvPicPr>
          <p:nvPr/>
        </p:nvPicPr>
        <p:blipFill>
          <a:blip r:embed="rId2"/>
          <a:srcRect l="0" r="0" t="0" b="0"/>
          <a:stretch/>
        </p:blipFill>
        <p:spPr>
          <a:xfrm>
            <a:off x="4656614" y="3867150"/>
            <a:ext cx="355600" cy="355600"/>
          </a:xfrm>
          <a:prstGeom prst="rect">
            <a:avLst/>
          </a:prstGeom>
        </p:spPr>
      </p:pic>
      <p:sp>
        <p:nvSpPr>
          <p:cNvPr id="13" name="Text 9"/>
          <p:cNvSpPr/>
          <p:nvPr/>
        </p:nvSpPr>
        <p:spPr>
          <a:xfrm>
            <a:off x="4656614" y="4324350"/>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C2A29"/>
                </a:solidFill>
                <a:latin typeface="DM Sans" pitchFamily="34" charset="0"/>
                <a:ea typeface="DM Sans" pitchFamily="34" charset="-122"/>
                <a:cs typeface="DM Sans" pitchFamily="34" charset="-120"/>
              </a:rPr>
              <a:t>Cruza con contabilidad</a:t>
            </a:r>
            <a:endParaRPr lang="en-US" sz="1800" dirty="0"/>
          </a:p>
        </p:txBody>
      </p:sp>
      <p:sp>
        <p:nvSpPr>
          <p:cNvPr id="14" name="Text 10"/>
          <p:cNvSpPr/>
          <p:nvPr/>
        </p:nvSpPr>
        <p:spPr>
          <a:xfrm>
            <a:off x="4656614" y="4700270"/>
            <a:ext cx="296505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24F"/>
                </a:solidFill>
                <a:latin typeface="DM Sans" pitchFamily="34" charset="0"/>
                <a:ea typeface="DM Sans" pitchFamily="34" charset="-122"/>
                <a:cs typeface="DM Sans" pitchFamily="34" charset="-120"/>
              </a:rPr>
              <a:t>Verifica que cada factura esté registrada, una sola vez y contabilizada.</a:t>
            </a:r>
            <a:endParaRPr lang="en-US" sz="1400" dirty="0"/>
          </a:p>
        </p:txBody>
      </p:sp>
      <p:sp>
        <p:nvSpPr>
          <p:cNvPr id="15" name="Shape 11"/>
          <p:cNvSpPr/>
          <p:nvPr/>
        </p:nvSpPr>
        <p:spPr>
          <a:xfrm>
            <a:off x="7992507" y="3613150"/>
            <a:ext cx="3386693" cy="2089150"/>
          </a:xfrm>
          <a:prstGeom prst="roundRect">
            <a:avLst>
              <a:gd name="adj" fmla="val 4863"/>
            </a:avLst>
          </a:prstGeom>
          <a:solidFill>
            <a:srgbClr val="FFFFFF"/>
          </a:solidFill>
          <a:ln/>
          <a:effectLst>
            <a:outerShdw sx="100000" sy="100000" kx="0" ky="0" algn="bl" rotWithShape="0" blurRad="152400" dist="25400" dir="5400000">
              <a:srgbClr val="2C2A29">
                <a:alpha val="8000"/>
              </a:srgbClr>
            </a:outerShdw>
          </a:effectLst>
        </p:spPr>
      </p:sp>
      <p:sp>
        <p:nvSpPr>
          <p:cNvPr id="16" name="Shape 12"/>
          <p:cNvSpPr/>
          <p:nvPr/>
        </p:nvSpPr>
        <p:spPr>
          <a:xfrm>
            <a:off x="8246507" y="3867150"/>
            <a:ext cx="355600" cy="355600"/>
          </a:xfrm>
          <a:prstGeom prst="rect">
            <a:avLst/>
          </a:prstGeom>
          <a:solidFill>
            <a:srgbClr val="FDDA24"/>
          </a:solidFill>
          <a:ln/>
        </p:spPr>
      </p:sp>
      <p:pic>
        <p:nvPicPr>
          <p:cNvPr id="17" name="Image 2" descr="Search">    </p:cNvPr>
          <p:cNvPicPr>
            <a:picLocks noChangeAspect="1"/>
          </p:cNvPicPr>
          <p:nvPr/>
        </p:nvPicPr>
        <p:blipFill>
          <a:blip r:embed="rId3"/>
          <a:srcRect l="0" r="0" t="0" b="0"/>
          <a:stretch/>
        </p:blipFill>
        <p:spPr>
          <a:xfrm>
            <a:off x="8246507" y="3867150"/>
            <a:ext cx="355600" cy="355600"/>
          </a:xfrm>
          <a:prstGeom prst="rect">
            <a:avLst/>
          </a:prstGeom>
        </p:spPr>
      </p:pic>
      <p:sp>
        <p:nvSpPr>
          <p:cNvPr id="18" name="Text 13"/>
          <p:cNvSpPr/>
          <p:nvPr/>
        </p:nvSpPr>
        <p:spPr>
          <a:xfrm>
            <a:off x="8246507" y="4324350"/>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C2A29"/>
                </a:solidFill>
                <a:latin typeface="DM Sans" pitchFamily="34" charset="0"/>
                <a:ea typeface="DM Sans" pitchFamily="34" charset="-122"/>
                <a:cs typeface="DM Sans" pitchFamily="34" charset="-120"/>
              </a:rPr>
              <a:t>Explica cada hallazgo</a:t>
            </a:r>
            <a:endParaRPr lang="en-US" sz="1800" dirty="0"/>
          </a:p>
        </p:txBody>
      </p:sp>
      <p:sp>
        <p:nvSpPr>
          <p:cNvPr id="19" name="Text 14"/>
          <p:cNvSpPr/>
          <p:nvPr/>
        </p:nvSpPr>
        <p:spPr>
          <a:xfrm>
            <a:off x="8246507" y="4700270"/>
            <a:ext cx="29650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24F"/>
                </a:solidFill>
                <a:latin typeface="DM Sans" pitchFamily="34" charset="0"/>
                <a:ea typeface="DM Sans" pitchFamily="34" charset="-122"/>
                <a:cs typeface="DM Sans" pitchFamily="34" charset="-120"/>
              </a:rPr>
              <a:t>Indica la causa exacta de cada inconsistencia, en lenguaje claro.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6400"/>
                </a:solidFill>
                <a:latin typeface="DM Sans" pitchFamily="34" charset="0"/>
                <a:ea typeface="DM Sans" pitchFamily="34" charset="-122"/>
                <a:cs typeface="DM Sans" pitchFamily="34" charset="-120"/>
              </a:rPr>
              <a:t>EL FLUJO</a:t>
            </a:r>
            <a:endParaRPr lang="en-US" sz="1400" dirty="0"/>
          </a:p>
        </p:txBody>
      </p:sp>
      <p:sp>
        <p:nvSpPr>
          <p:cNvPr id="3" name="Text 1"/>
          <p:cNvSpPr/>
          <p:nvPr>
            <p:ph type="title"/>
          </p:nvPr>
        </p:nvSpPr>
        <p:spPr>
          <a:xfrm>
            <a:off x="812800" y="1214120"/>
            <a:ext cx="11379200"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2C2A29"/>
                </a:solidFill>
                <a:latin typeface="DM Sans" pitchFamily="34" charset="0"/>
                <a:ea typeface="DM Sans" pitchFamily="34" charset="-122"/>
                <a:cs typeface="DM Sans" pitchFamily="34" charset="-120"/>
              </a:rPr>
              <a:t>De dos archivos a un resultado en cuatro pasos</a:t>
            </a:r>
            <a:endParaRPr lang="en-US" sz="3600" dirty="0"/>
          </a:p>
        </p:txBody>
      </p:sp>
      <p:sp>
        <p:nvSpPr>
          <p:cNvPr id="4" name="Text 2"/>
          <p:cNvSpPr/>
          <p:nvPr/>
        </p:nvSpPr>
        <p:spPr>
          <a:xfrm>
            <a:off x="812800" y="54419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24F"/>
                </a:solidFill>
                <a:latin typeface="DM Sans" pitchFamily="34" charset="0"/>
                <a:ea typeface="DM Sans" pitchFamily="34" charset="-122"/>
                <a:cs typeface="DM Sans" pitchFamily="34" charset="-120"/>
              </a:rPr>
              <a:t>Si un archivo llega incompleto o con otro formato, la herramienta lo avisa antes de procesar.</a:t>
            </a:r>
            <a:endParaRPr lang="en-US" sz="1400" dirty="0"/>
          </a:p>
        </p:txBody>
      </p:sp>
      <p:sp>
        <p:nvSpPr>
          <p:cNvPr id="5" name="Shape 3"/>
          <p:cNvSpPr/>
          <p:nvPr/>
        </p:nvSpPr>
        <p:spPr>
          <a:xfrm>
            <a:off x="812800" y="2391411"/>
            <a:ext cx="2184400" cy="2070100"/>
          </a:xfrm>
          <a:prstGeom prst="roundRect">
            <a:avLst>
              <a:gd name="adj" fmla="val 4908"/>
            </a:avLst>
          </a:prstGeom>
          <a:solidFill>
            <a:srgbClr val="FFFFFF"/>
          </a:solidFill>
          <a:ln/>
          <a:effectLst>
            <a:outerShdw sx="100000" sy="100000" kx="0" ky="0" algn="bl" rotWithShape="0" blurRad="152400" dist="25400" dir="5400000">
              <a:srgbClr val="2C2A29">
                <a:alpha val="8000"/>
              </a:srgbClr>
            </a:outerShdw>
          </a:effectLst>
        </p:spPr>
      </p:sp>
      <p:sp>
        <p:nvSpPr>
          <p:cNvPr id="6" name="Text 4"/>
          <p:cNvSpPr/>
          <p:nvPr/>
        </p:nvSpPr>
        <p:spPr>
          <a:xfrm>
            <a:off x="1066800" y="2645411"/>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FDDA24"/>
          </a:solidFill>
          <a:ln/>
        </p:spPr>
        <p:txBody>
          <a:bodyPr wrap="square" lIns="0" tIns="0" rIns="0" bIns="0" rtlCol="0" anchor="t">
            <a:normAutofit/>
          </a:bodyPr>
          <a:lstStyle/>
          <a:p>
            <a:pPr algn="ctr" indent="0" marL="0">
              <a:lnSpc>
                <a:spcPts val="3200"/>
              </a:lnSpc>
              <a:buNone/>
            </a:pPr>
            <a:r>
              <a:rPr lang="en-US" sz="1600" b="1" dirty="0">
                <a:solidFill>
                  <a:srgbClr val="2C2A29"/>
                </a:solidFill>
                <a:latin typeface="DM Sans" pitchFamily="34" charset="0"/>
                <a:ea typeface="DM Sans" pitchFamily="34" charset="-122"/>
                <a:cs typeface="DM Sans" pitchFamily="34" charset="-120"/>
              </a:rPr>
              <a:t>1</a:t>
            </a:r>
            <a:endParaRPr lang="en-US" sz="1600" dirty="0"/>
          </a:p>
        </p:txBody>
      </p:sp>
      <p:sp>
        <p:nvSpPr>
          <p:cNvPr id="7" name="Text 5"/>
          <p:cNvSpPr/>
          <p:nvPr/>
        </p:nvSpPr>
        <p:spPr>
          <a:xfrm>
            <a:off x="1066800" y="3153411"/>
            <a:ext cx="17272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C2A29"/>
                </a:solidFill>
                <a:latin typeface="DM Sans" pitchFamily="34" charset="0"/>
                <a:ea typeface="DM Sans" pitchFamily="34" charset="-122"/>
                <a:cs typeface="DM Sans" pitchFamily="34" charset="-120"/>
              </a:rPr>
              <a:t>Cargar</a:t>
            </a:r>
            <a:endParaRPr lang="en-US" sz="1700" dirty="0"/>
          </a:p>
        </p:txBody>
      </p:sp>
      <p:sp>
        <p:nvSpPr>
          <p:cNvPr id="8" name="Text 6"/>
          <p:cNvSpPr/>
          <p:nvPr/>
        </p:nvSpPr>
        <p:spPr>
          <a:xfrm>
            <a:off x="1066800" y="3514091"/>
            <a:ext cx="17272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24F"/>
                </a:solidFill>
                <a:latin typeface="DM Sans" pitchFamily="34" charset="0"/>
                <a:ea typeface="DM Sans" pitchFamily="34" charset="-122"/>
                <a:cs typeface="DM Sans" pitchFamily="34" charset="-120"/>
              </a:rPr>
              <a:t>El usuario sube el archivo de facturas y el de contabilidad.</a:t>
            </a:r>
            <a:endParaRPr lang="en-US" sz="1300" dirty="0"/>
          </a:p>
        </p:txBody>
      </p:sp>
      <p:pic>
        <p:nvPicPr>
          <p:cNvPr id="9" name="Image 0" descr="connector">    </p:cNvPr>
          <p:cNvPicPr>
            <a:picLocks noChangeAspect="1"/>
          </p:cNvPicPr>
          <p:nvPr/>
        </p:nvPicPr>
        <p:blipFill>
          <a:blip r:embed="rId1"/>
          <a:srcRect l="0" r="0" t="0" b="0"/>
          <a:stretch/>
        </p:blipFill>
        <p:spPr>
          <a:xfrm>
            <a:off x="3149600" y="3375661"/>
            <a:ext cx="304800" cy="101600"/>
          </a:xfrm>
          <a:prstGeom prst="rect">
            <a:avLst/>
          </a:prstGeom>
        </p:spPr>
      </p:pic>
      <p:sp>
        <p:nvSpPr>
          <p:cNvPr id="10" name="Shape 7"/>
          <p:cNvSpPr/>
          <p:nvPr/>
        </p:nvSpPr>
        <p:spPr>
          <a:xfrm>
            <a:off x="3606800" y="2391411"/>
            <a:ext cx="2184400" cy="2070100"/>
          </a:xfrm>
          <a:prstGeom prst="roundRect">
            <a:avLst>
              <a:gd name="adj" fmla="val 4908"/>
            </a:avLst>
          </a:prstGeom>
          <a:solidFill>
            <a:srgbClr val="FFFFFF"/>
          </a:solidFill>
          <a:ln/>
          <a:effectLst>
            <a:outerShdw sx="100000" sy="100000" kx="0" ky="0" algn="bl" rotWithShape="0" blurRad="152400" dist="25400" dir="5400000">
              <a:srgbClr val="2C2A29">
                <a:alpha val="8000"/>
              </a:srgbClr>
            </a:outerShdw>
          </a:effectLst>
        </p:spPr>
      </p:sp>
      <p:sp>
        <p:nvSpPr>
          <p:cNvPr id="11" name="Text 8"/>
          <p:cNvSpPr/>
          <p:nvPr/>
        </p:nvSpPr>
        <p:spPr>
          <a:xfrm>
            <a:off x="3860800" y="2645411"/>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FDDA24"/>
          </a:solidFill>
          <a:ln/>
        </p:spPr>
        <p:txBody>
          <a:bodyPr wrap="square" lIns="0" tIns="0" rIns="0" bIns="0" rtlCol="0" anchor="t">
            <a:normAutofit/>
          </a:bodyPr>
          <a:lstStyle/>
          <a:p>
            <a:pPr algn="ctr" indent="0" marL="0">
              <a:lnSpc>
                <a:spcPts val="3200"/>
              </a:lnSpc>
              <a:buNone/>
            </a:pPr>
            <a:r>
              <a:rPr lang="en-US" sz="1600" b="1" dirty="0">
                <a:solidFill>
                  <a:srgbClr val="2C2A29"/>
                </a:solidFill>
                <a:latin typeface="DM Sans" pitchFamily="34" charset="0"/>
                <a:ea typeface="DM Sans" pitchFamily="34" charset="-122"/>
                <a:cs typeface="DM Sans" pitchFamily="34" charset="-120"/>
              </a:rPr>
              <a:t>2</a:t>
            </a:r>
            <a:endParaRPr lang="en-US" sz="1600" dirty="0"/>
          </a:p>
        </p:txBody>
      </p:sp>
      <p:sp>
        <p:nvSpPr>
          <p:cNvPr id="12" name="Text 9"/>
          <p:cNvSpPr/>
          <p:nvPr/>
        </p:nvSpPr>
        <p:spPr>
          <a:xfrm>
            <a:off x="3860800" y="3153411"/>
            <a:ext cx="17272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C2A29"/>
                </a:solidFill>
                <a:latin typeface="DM Sans" pitchFamily="34" charset="0"/>
                <a:ea typeface="DM Sans" pitchFamily="34" charset="-122"/>
                <a:cs typeface="DM Sans" pitchFamily="34" charset="-120"/>
              </a:rPr>
              <a:t>Revisar datos</a:t>
            </a:r>
            <a:endParaRPr lang="en-US" sz="1700" dirty="0"/>
          </a:p>
        </p:txBody>
      </p:sp>
      <p:sp>
        <p:nvSpPr>
          <p:cNvPr id="13" name="Text 10"/>
          <p:cNvSpPr/>
          <p:nvPr/>
        </p:nvSpPr>
        <p:spPr>
          <a:xfrm>
            <a:off x="3860800" y="3514091"/>
            <a:ext cx="17272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24F"/>
                </a:solidFill>
                <a:latin typeface="DM Sans" pitchFamily="34" charset="0"/>
                <a:ea typeface="DM Sans" pitchFamily="34" charset="-122"/>
                <a:cs typeface="DM Sans" pitchFamily="34" charset="-120"/>
              </a:rPr>
              <a:t>Se confirma que los archivos estén completos y legibles.</a:t>
            </a:r>
            <a:endParaRPr lang="en-US" sz="1300" dirty="0"/>
          </a:p>
        </p:txBody>
      </p:sp>
      <p:pic>
        <p:nvPicPr>
          <p:cNvPr id="14" name="Image 1" descr="connector">    </p:cNvPr>
          <p:cNvPicPr>
            <a:picLocks noChangeAspect="1"/>
          </p:cNvPicPr>
          <p:nvPr/>
        </p:nvPicPr>
        <p:blipFill>
          <a:blip r:embed="rId2"/>
          <a:srcRect l="0" r="0" t="0" b="0"/>
          <a:stretch/>
        </p:blipFill>
        <p:spPr>
          <a:xfrm>
            <a:off x="5943600" y="3375661"/>
            <a:ext cx="304800" cy="101600"/>
          </a:xfrm>
          <a:prstGeom prst="rect">
            <a:avLst/>
          </a:prstGeom>
        </p:spPr>
      </p:pic>
      <p:sp>
        <p:nvSpPr>
          <p:cNvPr id="15" name="Shape 11"/>
          <p:cNvSpPr/>
          <p:nvPr/>
        </p:nvSpPr>
        <p:spPr>
          <a:xfrm>
            <a:off x="6400800" y="2391411"/>
            <a:ext cx="2184400" cy="2070100"/>
          </a:xfrm>
          <a:prstGeom prst="roundRect">
            <a:avLst>
              <a:gd name="adj" fmla="val 4908"/>
            </a:avLst>
          </a:prstGeom>
          <a:solidFill>
            <a:srgbClr val="FFFFFF"/>
          </a:solidFill>
          <a:ln/>
          <a:effectLst>
            <a:outerShdw sx="100000" sy="100000" kx="0" ky="0" algn="bl" rotWithShape="0" blurRad="152400" dist="25400" dir="5400000">
              <a:srgbClr val="2C2A29">
                <a:alpha val="8000"/>
              </a:srgbClr>
            </a:outerShdw>
          </a:effectLst>
        </p:spPr>
      </p:sp>
      <p:sp>
        <p:nvSpPr>
          <p:cNvPr id="16" name="Text 12"/>
          <p:cNvSpPr/>
          <p:nvPr/>
        </p:nvSpPr>
        <p:spPr>
          <a:xfrm>
            <a:off x="6654800" y="2645411"/>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FDDA24"/>
          </a:solidFill>
          <a:ln/>
        </p:spPr>
        <p:txBody>
          <a:bodyPr wrap="square" lIns="0" tIns="0" rIns="0" bIns="0" rtlCol="0" anchor="t">
            <a:normAutofit/>
          </a:bodyPr>
          <a:lstStyle/>
          <a:p>
            <a:pPr algn="ctr" indent="0" marL="0">
              <a:lnSpc>
                <a:spcPts val="3200"/>
              </a:lnSpc>
              <a:buNone/>
            </a:pPr>
            <a:r>
              <a:rPr lang="en-US" sz="1600" b="1" dirty="0">
                <a:solidFill>
                  <a:srgbClr val="2C2A29"/>
                </a:solidFill>
                <a:latin typeface="DM Sans" pitchFamily="34" charset="0"/>
                <a:ea typeface="DM Sans" pitchFamily="34" charset="-122"/>
                <a:cs typeface="DM Sans" pitchFamily="34" charset="-120"/>
              </a:rPr>
              <a:t>3</a:t>
            </a:r>
            <a:endParaRPr lang="en-US" sz="1600" dirty="0"/>
          </a:p>
        </p:txBody>
      </p:sp>
      <p:sp>
        <p:nvSpPr>
          <p:cNvPr id="17" name="Text 13"/>
          <p:cNvSpPr/>
          <p:nvPr/>
        </p:nvSpPr>
        <p:spPr>
          <a:xfrm>
            <a:off x="6654800" y="3153411"/>
            <a:ext cx="17272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C2A29"/>
                </a:solidFill>
                <a:latin typeface="DM Sans" pitchFamily="34" charset="0"/>
                <a:ea typeface="DM Sans" pitchFamily="34" charset="-122"/>
                <a:cs typeface="DM Sans" pitchFamily="34" charset="-120"/>
              </a:rPr>
              <a:t>Conciliar</a:t>
            </a:r>
            <a:endParaRPr lang="en-US" sz="1700" dirty="0"/>
          </a:p>
        </p:txBody>
      </p:sp>
      <p:sp>
        <p:nvSpPr>
          <p:cNvPr id="18" name="Text 14"/>
          <p:cNvSpPr/>
          <p:nvPr/>
        </p:nvSpPr>
        <p:spPr>
          <a:xfrm>
            <a:off x="6654800" y="3514091"/>
            <a:ext cx="17272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24F"/>
                </a:solidFill>
                <a:latin typeface="DM Sans" pitchFamily="34" charset="0"/>
                <a:ea typeface="DM Sans" pitchFamily="34" charset="-122"/>
                <a:cs typeface="DM Sans" pitchFamily="34" charset="-120"/>
              </a:rPr>
              <a:t>Cada factura se valida y se cruza con su registro contable.</a:t>
            </a:r>
            <a:endParaRPr lang="en-US" sz="1300" dirty="0"/>
          </a:p>
        </p:txBody>
      </p:sp>
      <p:pic>
        <p:nvPicPr>
          <p:cNvPr id="19" name="Image 2" descr="connector">    </p:cNvPr>
          <p:cNvPicPr>
            <a:picLocks noChangeAspect="1"/>
          </p:cNvPicPr>
          <p:nvPr/>
        </p:nvPicPr>
        <p:blipFill>
          <a:blip r:embed="rId3"/>
          <a:srcRect l="0" r="0" t="0" b="0"/>
          <a:stretch/>
        </p:blipFill>
        <p:spPr>
          <a:xfrm>
            <a:off x="8737600" y="3375661"/>
            <a:ext cx="304800" cy="101600"/>
          </a:xfrm>
          <a:prstGeom prst="rect">
            <a:avLst/>
          </a:prstGeom>
        </p:spPr>
      </p:pic>
      <p:sp>
        <p:nvSpPr>
          <p:cNvPr id="20" name="Shape 15"/>
          <p:cNvSpPr/>
          <p:nvPr/>
        </p:nvSpPr>
        <p:spPr>
          <a:xfrm>
            <a:off x="9194800" y="2393950"/>
            <a:ext cx="2184400" cy="2070100"/>
          </a:xfrm>
          <a:prstGeom prst="roundRect">
            <a:avLst>
              <a:gd name="adj" fmla="val 4908"/>
            </a:avLst>
          </a:prstGeom>
          <a:solidFill>
            <a:srgbClr val="2C2A29"/>
          </a:solidFill>
          <a:ln/>
          <a:effectLst>
            <a:outerShdw sx="100000" sy="100000" kx="0" ky="0" algn="bl" rotWithShape="0" blurRad="152400" dist="25400" dir="5400000">
              <a:srgbClr val="2C2A29">
                <a:alpha val="8000"/>
              </a:srgbClr>
            </a:outerShdw>
          </a:effectLst>
        </p:spPr>
      </p:sp>
      <p:sp>
        <p:nvSpPr>
          <p:cNvPr id="21" name="Text 16"/>
          <p:cNvSpPr/>
          <p:nvPr/>
        </p:nvSpPr>
        <p:spPr>
          <a:xfrm>
            <a:off x="9448800" y="264795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FDDA24"/>
          </a:solidFill>
          <a:ln/>
        </p:spPr>
        <p:txBody>
          <a:bodyPr wrap="square" lIns="0" tIns="0" rIns="0" bIns="0" rtlCol="0" anchor="t">
            <a:normAutofit/>
          </a:bodyPr>
          <a:lstStyle/>
          <a:p>
            <a:pPr algn="ctr" indent="0" marL="0">
              <a:lnSpc>
                <a:spcPts val="3200"/>
              </a:lnSpc>
              <a:buNone/>
            </a:pPr>
            <a:r>
              <a:rPr lang="en-US" sz="1600" b="1" dirty="0">
                <a:solidFill>
                  <a:srgbClr val="2C2A29"/>
                </a:solidFill>
                <a:latin typeface="DM Sans" pitchFamily="34" charset="0"/>
                <a:ea typeface="DM Sans" pitchFamily="34" charset="-122"/>
                <a:cs typeface="DM Sans" pitchFamily="34" charset="-120"/>
              </a:rPr>
              <a:t>4</a:t>
            </a:r>
            <a:endParaRPr lang="en-US" sz="1600" dirty="0"/>
          </a:p>
        </p:txBody>
      </p:sp>
      <p:sp>
        <p:nvSpPr>
          <p:cNvPr id="22" name="Text 17"/>
          <p:cNvSpPr/>
          <p:nvPr/>
        </p:nvSpPr>
        <p:spPr>
          <a:xfrm>
            <a:off x="9448800" y="3155950"/>
            <a:ext cx="17272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DM Sans" pitchFamily="34" charset="0"/>
                <a:ea typeface="DM Sans" pitchFamily="34" charset="-122"/>
                <a:cs typeface="DM Sans" pitchFamily="34" charset="-120"/>
              </a:rPr>
              <a:t>Ver resultados</a:t>
            </a:r>
            <a:endParaRPr lang="en-US" sz="1700" dirty="0"/>
          </a:p>
        </p:txBody>
      </p:sp>
      <p:sp>
        <p:nvSpPr>
          <p:cNvPr id="23" name="Text 18"/>
          <p:cNvSpPr/>
          <p:nvPr/>
        </p:nvSpPr>
        <p:spPr>
          <a:xfrm>
            <a:off x="9448800" y="3516630"/>
            <a:ext cx="17272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D3CC"/>
                </a:solidFill>
                <a:latin typeface="DM Sans" pitchFamily="34" charset="0"/>
                <a:ea typeface="DM Sans" pitchFamily="34" charset="-122"/>
                <a:cs typeface="DM Sans" pitchFamily="34" charset="-120"/>
              </a:rPr>
              <a:t>Resumen general y detalle por factura, filtrable por estado.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6400"/>
                </a:solidFill>
                <a:latin typeface="DM Sans" pitchFamily="34" charset="0"/>
                <a:ea typeface="DM Sans" pitchFamily="34" charset="-122"/>
                <a:cs typeface="DM Sans" pitchFamily="34" charset="-120"/>
              </a:rPr>
              <a:t>RESULTADOS CON LOS ARCHIVOS DE PRUEBA</a:t>
            </a:r>
            <a:endParaRPr lang="en-US" sz="1400" dirty="0"/>
          </a:p>
        </p:txBody>
      </p:sp>
      <p:sp>
        <p:nvSpPr>
          <p:cNvPr id="3" name="Text 1"/>
          <p:cNvSpPr/>
          <p:nvPr>
            <p:ph type="title"/>
          </p:nvPr>
        </p:nvSpPr>
        <p:spPr>
          <a:xfrm>
            <a:off x="812800" y="121412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2C2A29"/>
                </a:solidFill>
                <a:latin typeface="DM Sans" pitchFamily="34" charset="0"/>
                <a:ea typeface="DM Sans" pitchFamily="34" charset="-122"/>
                <a:cs typeface="DM Sans" pitchFamily="34" charset="-120"/>
              </a:rPr>
              <a:t>22 de 50 facturas necesitan revisión</a:t>
            </a:r>
            <a:endParaRPr lang="en-US" sz="3600" dirty="0"/>
          </a:p>
        </p:txBody>
      </p:sp>
      <p:sp>
        <p:nvSpPr>
          <p:cNvPr id="4" name="Shape 2"/>
          <p:cNvSpPr/>
          <p:nvPr/>
        </p:nvSpPr>
        <p:spPr>
          <a:xfrm>
            <a:off x="812800" y="2044700"/>
            <a:ext cx="3302000" cy="1295400"/>
          </a:xfrm>
          <a:prstGeom prst="roundRect">
            <a:avLst>
              <a:gd name="adj" fmla="val 7843"/>
            </a:avLst>
          </a:prstGeom>
          <a:solidFill>
            <a:srgbClr val="2C2A29"/>
          </a:solidFill>
          <a:ln/>
        </p:spPr>
      </p:sp>
      <p:sp>
        <p:nvSpPr>
          <p:cNvPr id="5" name="Text 3"/>
          <p:cNvSpPr/>
          <p:nvPr/>
        </p:nvSpPr>
        <p:spPr>
          <a:xfrm>
            <a:off x="1066800" y="2247900"/>
            <a:ext cx="2877820"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DDA24"/>
                </a:solidFill>
                <a:latin typeface="DM Sans" pitchFamily="34" charset="0"/>
                <a:ea typeface="DM Sans" pitchFamily="34" charset="-122"/>
                <a:cs typeface="DM Sans" pitchFamily="34" charset="-120"/>
              </a:rPr>
              <a:t>50</a:t>
            </a:r>
            <a:endParaRPr lang="en-US" sz="4400" dirty="0"/>
          </a:p>
        </p:txBody>
      </p:sp>
      <p:sp>
        <p:nvSpPr>
          <p:cNvPr id="6" name="Text 4"/>
          <p:cNvSpPr/>
          <p:nvPr/>
        </p:nvSpPr>
        <p:spPr>
          <a:xfrm>
            <a:off x="1066800" y="2887980"/>
            <a:ext cx="28778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DM Sans" pitchFamily="34" charset="0"/>
                <a:ea typeface="DM Sans" pitchFamily="34" charset="-122"/>
                <a:cs typeface="DM Sans" pitchFamily="34" charset="-120"/>
              </a:rPr>
              <a:t>Facturas analizadas</a:t>
            </a:r>
            <a:endParaRPr lang="en-US" sz="1400" dirty="0"/>
          </a:p>
        </p:txBody>
      </p:sp>
      <p:sp>
        <p:nvSpPr>
          <p:cNvPr id="7" name="Shape 5"/>
          <p:cNvSpPr/>
          <p:nvPr/>
        </p:nvSpPr>
        <p:spPr>
          <a:xfrm>
            <a:off x="812800" y="3492500"/>
            <a:ext cx="1574800" cy="1219200"/>
          </a:xfrm>
          <a:prstGeom prst="roundRect">
            <a:avLst>
              <a:gd name="adj" fmla="val 8333"/>
            </a:avLst>
          </a:prstGeom>
          <a:solidFill>
            <a:srgbClr val="FFFFFF"/>
          </a:solidFill>
          <a:ln/>
          <a:effectLst>
            <a:outerShdw sx="100000" sy="100000" kx="0" ky="0" algn="bl" rotWithShape="0" blurRad="152400" dist="25400" dir="5400000">
              <a:srgbClr val="2C2A29">
                <a:alpha val="8000"/>
              </a:srgbClr>
            </a:outerShdw>
          </a:effectLst>
        </p:spPr>
      </p:sp>
      <p:sp>
        <p:nvSpPr>
          <p:cNvPr id="8" name="Shape 6"/>
          <p:cNvSpPr/>
          <p:nvPr/>
        </p:nvSpPr>
        <p:spPr>
          <a:xfrm>
            <a:off x="812800" y="3492500"/>
            <a:ext cx="1574800" cy="1219200"/>
          </a:xfrm>
          <a:custGeom>
            <a:avLst/>
            <a:gdLst/>
            <a:ahLst/>
            <a:cxnLst/>
            <a:rect l="l" t="t" r="r" b="b"/>
            <a:pathLst>
              <a:path w="1574800" h="1219200">
                <a:moveTo>
                  <a:pt x="0" y="101600"/>
                </a:moveTo>
                <a:lnTo>
                  <a:pt x="0" y="101600"/>
                </a:lnTo>
                <a:arcTo hR="101600" wR="101600" stAng="10800000" swAng="5400000"/>
                <a:lnTo>
                  <a:pt x="1473200" y="0"/>
                </a:lnTo>
                <a:arcTo hR="101600" wR="101600" stAng="16200000" swAng="5400000"/>
                <a:lnTo>
                  <a:pt x="1574800" y="101600"/>
                </a:lnTo>
                <a:arcTo hR="63500" wR="101600" stAng="0" swAng="-5400000"/>
                <a:lnTo>
                  <a:pt x="101600" y="38100"/>
                </a:lnTo>
                <a:arcTo hR="63500" wR="101600" stAng="16200000" swAng="-5400000"/>
                <a:close/>
              </a:path>
            </a:pathLst>
          </a:custGeom>
          <a:solidFill>
            <a:srgbClr val="FDDA24"/>
          </a:solidFill>
          <a:ln/>
        </p:spPr>
      </p:sp>
      <p:sp>
        <p:nvSpPr>
          <p:cNvPr id="9" name="Text 7"/>
          <p:cNvSpPr/>
          <p:nvPr/>
        </p:nvSpPr>
        <p:spPr>
          <a:xfrm>
            <a:off x="1016000" y="3731261"/>
            <a:ext cx="121920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C2A29"/>
                </a:solidFill>
                <a:latin typeface="DM Sans" pitchFamily="34" charset="0"/>
                <a:ea typeface="DM Sans" pitchFamily="34" charset="-122"/>
                <a:cs typeface="DM Sans" pitchFamily="34" charset="-120"/>
              </a:rPr>
              <a:t>28</a:t>
            </a:r>
            <a:endParaRPr lang="en-US" sz="3600" dirty="0"/>
          </a:p>
        </p:txBody>
      </p:sp>
      <p:sp>
        <p:nvSpPr>
          <p:cNvPr id="10" name="Text 8"/>
          <p:cNvSpPr/>
          <p:nvPr/>
        </p:nvSpPr>
        <p:spPr>
          <a:xfrm>
            <a:off x="1016000" y="4259580"/>
            <a:ext cx="121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2A29"/>
                </a:solidFill>
                <a:latin typeface="DM Sans" pitchFamily="34" charset="0"/>
                <a:ea typeface="DM Sans" pitchFamily="34" charset="-122"/>
                <a:cs typeface="DM Sans" pitchFamily="34" charset="-120"/>
              </a:rPr>
              <a:t>Correctas</a:t>
            </a:r>
            <a:endParaRPr lang="en-US" sz="1400" dirty="0"/>
          </a:p>
        </p:txBody>
      </p:sp>
      <p:sp>
        <p:nvSpPr>
          <p:cNvPr id="11" name="Shape 9"/>
          <p:cNvSpPr/>
          <p:nvPr/>
        </p:nvSpPr>
        <p:spPr>
          <a:xfrm>
            <a:off x="2540000" y="3492500"/>
            <a:ext cx="1574800" cy="1219200"/>
          </a:xfrm>
          <a:prstGeom prst="roundRect">
            <a:avLst>
              <a:gd name="adj" fmla="val 8333"/>
            </a:avLst>
          </a:prstGeom>
          <a:solidFill>
            <a:srgbClr val="FFFFFF"/>
          </a:solidFill>
          <a:ln/>
          <a:effectLst>
            <a:outerShdw sx="100000" sy="100000" kx="0" ky="0" algn="bl" rotWithShape="0" blurRad="152400" dist="25400" dir="5400000">
              <a:srgbClr val="2C2A29">
                <a:alpha val="8000"/>
              </a:srgbClr>
            </a:outerShdw>
          </a:effectLst>
        </p:spPr>
      </p:sp>
      <p:sp>
        <p:nvSpPr>
          <p:cNvPr id="12" name="Shape 10"/>
          <p:cNvSpPr/>
          <p:nvPr/>
        </p:nvSpPr>
        <p:spPr>
          <a:xfrm>
            <a:off x="2540000" y="3492500"/>
            <a:ext cx="1574800" cy="1219200"/>
          </a:xfrm>
          <a:custGeom>
            <a:avLst/>
            <a:gdLst/>
            <a:ahLst/>
            <a:cxnLst/>
            <a:rect l="l" t="t" r="r" b="b"/>
            <a:pathLst>
              <a:path w="1574800" h="1219200">
                <a:moveTo>
                  <a:pt x="0" y="101600"/>
                </a:moveTo>
                <a:lnTo>
                  <a:pt x="0" y="101600"/>
                </a:lnTo>
                <a:arcTo hR="101600" wR="101600" stAng="10800000" swAng="5400000"/>
                <a:lnTo>
                  <a:pt x="1473200" y="0"/>
                </a:lnTo>
                <a:arcTo hR="101600" wR="101600" stAng="16200000" swAng="5400000"/>
                <a:lnTo>
                  <a:pt x="1574800" y="101600"/>
                </a:lnTo>
                <a:arcTo hR="63500" wR="101600" stAng="0" swAng="-5400000"/>
                <a:lnTo>
                  <a:pt x="101600" y="38100"/>
                </a:lnTo>
                <a:arcTo hR="63500" wR="101600" stAng="16200000" swAng="-5400000"/>
                <a:close/>
              </a:path>
            </a:pathLst>
          </a:custGeom>
          <a:solidFill>
            <a:srgbClr val="FDDA24"/>
          </a:solidFill>
          <a:ln/>
        </p:spPr>
      </p:sp>
      <p:sp>
        <p:nvSpPr>
          <p:cNvPr id="13" name="Text 11"/>
          <p:cNvSpPr/>
          <p:nvPr/>
        </p:nvSpPr>
        <p:spPr>
          <a:xfrm>
            <a:off x="2743200" y="3731261"/>
            <a:ext cx="121920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C2A29"/>
                </a:solidFill>
                <a:latin typeface="DM Sans" pitchFamily="34" charset="0"/>
                <a:ea typeface="DM Sans" pitchFamily="34" charset="-122"/>
                <a:cs typeface="DM Sans" pitchFamily="34" charset="-120"/>
              </a:rPr>
              <a:t>22</a:t>
            </a:r>
            <a:endParaRPr lang="en-US" sz="3600" dirty="0"/>
          </a:p>
        </p:txBody>
      </p:sp>
      <p:sp>
        <p:nvSpPr>
          <p:cNvPr id="14" name="Text 12"/>
          <p:cNvSpPr/>
          <p:nvPr/>
        </p:nvSpPr>
        <p:spPr>
          <a:xfrm>
            <a:off x="2743200" y="4259580"/>
            <a:ext cx="121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2A29"/>
                </a:solidFill>
                <a:latin typeface="DM Sans" pitchFamily="34" charset="0"/>
                <a:ea typeface="DM Sans" pitchFamily="34" charset="-122"/>
                <a:cs typeface="DM Sans" pitchFamily="34" charset="-120"/>
              </a:rPr>
              <a:t>Con hallazgos</a:t>
            </a:r>
            <a:endParaRPr lang="en-US" sz="1400" dirty="0"/>
          </a:p>
        </p:txBody>
      </p:sp>
      <p:sp>
        <p:nvSpPr>
          <p:cNvPr id="15" name="Text 13"/>
          <p:cNvSpPr/>
          <p:nvPr/>
        </p:nvSpPr>
        <p:spPr>
          <a:xfrm>
            <a:off x="4521200" y="2044700"/>
            <a:ext cx="70637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C2A29"/>
                </a:solidFill>
                <a:latin typeface="DM Sans" pitchFamily="34" charset="0"/>
                <a:ea typeface="DM Sans" pitchFamily="34" charset="-122"/>
                <a:cs typeface="DM Sans" pitchFamily="34" charset="-120"/>
              </a:rPr>
              <a:t>Hallazgos detectados por causa</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31360" y="2400301"/>
          <a:ext cx="6847840" cy="2854960"/>
        </p:xfrm>
        <a:graphic>
          <a:graphicData uri="http://schemas.openxmlformats.org/drawingml/2006/table">
            <a:tbl>
              <a:tblPr/>
              <a:tblGrid>
                <a:gridCol w="5478272"/>
                <a:gridCol w="1369568"/>
              </a:tblGrid>
              <a:tr h="356870">
                <a:tc>
                  <a:txBody>
                    <a:bodyPr/>
                    <a:lstStyle/>
                    <a:p>
                      <a:pPr indent="0" marL="0">
                        <a:lnSpc>
                          <a:spcPts val="1820"/>
                        </a:lnSpc>
                        <a:buNone/>
                      </a:pPr>
                      <a:r>
                        <a:rPr lang="en-US" sz="1300" b="1" dirty="0">
                          <a:solidFill>
                            <a:srgbClr val="2C2A29"/>
                          </a:solidFill>
                          <a:latin typeface="DM Sans" pitchFamily="34" charset="0"/>
                          <a:ea typeface="DM Sans" pitchFamily="34" charset="-122"/>
                          <a:cs typeface="DM Sans" pitchFamily="34" charset="-120"/>
                        </a:rPr>
                        <a:t>Causa</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820"/>
                        </a:lnSpc>
                        <a:buNone/>
                      </a:pPr>
                      <a:r>
                        <a:rPr lang="en-US" sz="1300" b="1" dirty="0">
                          <a:solidFill>
                            <a:srgbClr val="2C2A29"/>
                          </a:solidFill>
                          <a:latin typeface="DM Sans" pitchFamily="34" charset="0"/>
                          <a:ea typeface="DM Sans" pitchFamily="34" charset="-122"/>
                          <a:cs typeface="DM Sans" pitchFamily="34" charset="-120"/>
                        </a:rPr>
                        <a:t>Casos</a:t>
                      </a:r>
                      <a:endParaRPr lang="en-US" sz="1300" dirty="0">
                        <a:latin typeface="DM Sans" charset="0"/>
                        <a:ea typeface="DM Sans" charset="0"/>
                        <a:cs typeface="DM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6870">
                <a:tc>
                  <a:txBody>
                    <a:bodyPr/>
                    <a:lstStyle/>
                    <a:p>
                      <a:pPr indent="0" marL="0">
                        <a:lnSpc>
                          <a:spcPts val="1820"/>
                        </a:lnSpc>
                        <a:buNone/>
                      </a:pPr>
                      <a:r>
                        <a:rPr lang="en-US" sz="1300" dirty="0">
                          <a:solidFill>
                            <a:srgbClr val="2C2A29"/>
                          </a:solidFill>
                          <a:latin typeface="DM Sans" pitchFamily="34" charset="0"/>
                          <a:ea typeface="DM Sans" pitchFamily="34" charset="-122"/>
                          <a:cs typeface="DM Sans" pitchFamily="34" charset="-120"/>
                        </a:rPr>
                        <a:t>Registro contable duplicado</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2C2A29"/>
                          </a:solidFill>
                          <a:latin typeface="DM Sans" pitchFamily="34" charset="0"/>
                          <a:ea typeface="DM Sans" pitchFamily="34" charset="-122"/>
                          <a:cs typeface="DM Sans" pitchFamily="34" charset="-120"/>
                        </a:rPr>
                        <a:t>7</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2C2A29"/>
                          </a:solidFill>
                          <a:latin typeface="DM Sans" pitchFamily="34" charset="0"/>
                          <a:ea typeface="DM Sans" pitchFamily="34" charset="-122"/>
                          <a:cs typeface="DM Sans" pitchFamily="34" charset="-120"/>
                        </a:rPr>
                        <a:t>Factura duplicada</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2C2A29"/>
                          </a:solidFill>
                          <a:latin typeface="DM Sans" pitchFamily="34" charset="0"/>
                          <a:ea typeface="DM Sans" pitchFamily="34" charset="-122"/>
                          <a:cs typeface="DM Sans" pitchFamily="34" charset="-120"/>
                        </a:rPr>
                        <a:t>4</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2C2A29"/>
                          </a:solidFill>
                          <a:latin typeface="DM Sans" pitchFamily="34" charset="0"/>
                          <a:ea typeface="DM Sans" pitchFamily="34" charset="-122"/>
                          <a:cs typeface="DM Sans" pitchFamily="34" charset="-120"/>
                        </a:rPr>
                        <a:t>Sin registro contable</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2C2A29"/>
                          </a:solidFill>
                          <a:latin typeface="DM Sans" pitchFamily="34" charset="0"/>
                          <a:ea typeface="DM Sans" pitchFamily="34" charset="-122"/>
                          <a:cs typeface="DM Sans" pitchFamily="34" charset="-120"/>
                        </a:rPr>
                        <a:t>4</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2C2A29"/>
                          </a:solidFill>
                          <a:latin typeface="DM Sans" pitchFamily="34" charset="0"/>
                          <a:ea typeface="DM Sans" pitchFamily="34" charset="-122"/>
                          <a:cs typeface="DM Sans" pitchFamily="34" charset="-120"/>
                        </a:rPr>
                        <a:t>Total mal calculado</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2C2A29"/>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2C2A29"/>
                          </a:solidFill>
                          <a:latin typeface="DM Sans" pitchFamily="34" charset="0"/>
                          <a:ea typeface="DM Sans" pitchFamily="34" charset="-122"/>
                          <a:cs typeface="DM Sans" pitchFamily="34" charset="-120"/>
                        </a:rPr>
                        <a:t>Registro no contabilizado</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2C2A29"/>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2C2A29"/>
                          </a:solidFill>
                          <a:latin typeface="DM Sans" pitchFamily="34" charset="0"/>
                          <a:ea typeface="DM Sans" pitchFamily="34" charset="-122"/>
                          <a:cs typeface="DM Sans" pitchFamily="34" charset="-120"/>
                        </a:rPr>
                        <a:t>Datos obligatorios vacíos</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2C2A29"/>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2C2A29"/>
                          </a:solidFill>
                          <a:latin typeface="DM Sans" pitchFamily="34" charset="0"/>
                          <a:ea typeface="DM Sans" pitchFamily="34" charset="-122"/>
                          <a:cs typeface="DM Sans" pitchFamily="34" charset="-120"/>
                        </a:rPr>
                        <a:t>IVA mal calculado</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2C2A29"/>
                          </a:solidFill>
                          <a:latin typeface="DM Sans" pitchFamily="34" charset="0"/>
                          <a:ea typeface="DM Sans" pitchFamily="34" charset="-122"/>
                          <a:cs typeface="DM Sans" pitchFamily="34" charset="-120"/>
                        </a:rPr>
                        <a:t>2</a:t>
                      </a:r>
                      <a:endParaRPr lang="en-US" sz="1300" dirty="0">
                        <a:latin typeface="DM Sans" charset="0"/>
                        <a:ea typeface="DM Sans" charset="0"/>
                        <a:cs typeface="DM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2A29"/>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DDA24"/>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DDA24"/>
                </a:solidFill>
                <a:latin typeface="DM Sans" pitchFamily="34" charset="0"/>
                <a:ea typeface="DM Sans" pitchFamily="34" charset="-122"/>
                <a:cs typeface="DM Sans" pitchFamily="34" charset="-120"/>
              </a:rPr>
              <a:t>BENEFICIOS ESPERADOS</a:t>
            </a:r>
            <a:endParaRPr lang="en-US" sz="1400" dirty="0"/>
          </a:p>
        </p:txBody>
      </p:sp>
      <p:sp>
        <p:nvSpPr>
          <p:cNvPr id="4" name="Text 2"/>
          <p:cNvSpPr/>
          <p:nvPr>
            <p:ph type="title"/>
          </p:nvPr>
        </p:nvSpPr>
        <p:spPr>
          <a:xfrm>
            <a:off x="812800" y="1214121"/>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6F2"/>
                </a:solidFill>
                <a:latin typeface="DM Sans" pitchFamily="34" charset="0"/>
                <a:ea typeface="DM Sans" pitchFamily="34" charset="-122"/>
                <a:cs typeface="DM Sans" pitchFamily="34" charset="-120"/>
              </a:rPr>
              <a:t>El equipo se enfoca solo en lo que requiere atención</a:t>
            </a:r>
            <a:endParaRPr lang="en-US" sz="3600" dirty="0"/>
          </a:p>
        </p:txBody>
      </p:sp>
      <p:sp>
        <p:nvSpPr>
          <p:cNvPr id="5" name="Shape 3"/>
          <p:cNvSpPr/>
          <p:nvPr/>
        </p:nvSpPr>
        <p:spPr>
          <a:xfrm>
            <a:off x="812800" y="2787650"/>
            <a:ext cx="5181600" cy="1333500"/>
          </a:xfrm>
          <a:prstGeom prst="roundRect">
            <a:avLst>
              <a:gd name="adj" fmla="val 7619"/>
            </a:avLst>
          </a:prstGeom>
          <a:solidFill>
            <a:srgbClr val="3A3836"/>
          </a:solidFill>
          <a:ln/>
        </p:spPr>
      </p:sp>
      <p:pic>
        <p:nvPicPr>
          <p:cNvPr id="6" name="Image 0" descr="Clock">    </p:cNvPr>
          <p:cNvPicPr>
            <a:picLocks noChangeAspect="1"/>
          </p:cNvPicPr>
          <p:nvPr/>
        </p:nvPicPr>
        <p:blipFill>
          <a:blip r:embed="rId1"/>
          <a:srcRect l="0" r="0" t="0" b="0"/>
          <a:stretch/>
        </p:blipFill>
        <p:spPr>
          <a:xfrm>
            <a:off x="1066800" y="3041650"/>
            <a:ext cx="304800" cy="304800"/>
          </a:xfrm>
          <a:prstGeom prst="rect">
            <a:avLst/>
          </a:prstGeom>
        </p:spPr>
      </p:pic>
      <p:sp>
        <p:nvSpPr>
          <p:cNvPr id="7" name="Text 4"/>
          <p:cNvSpPr/>
          <p:nvPr/>
        </p:nvSpPr>
        <p:spPr>
          <a:xfrm>
            <a:off x="1524000" y="3041650"/>
            <a:ext cx="43428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DM Sans" pitchFamily="34" charset="0"/>
                <a:ea typeface="DM Sans" pitchFamily="34" charset="-122"/>
                <a:cs typeface="DM Sans" pitchFamily="34" charset="-120"/>
              </a:rPr>
              <a:t>Menos tiempo</a:t>
            </a:r>
            <a:endParaRPr lang="en-US" sz="1800" dirty="0"/>
          </a:p>
        </p:txBody>
      </p:sp>
      <p:sp>
        <p:nvSpPr>
          <p:cNvPr id="8" name="Text 5"/>
          <p:cNvSpPr/>
          <p:nvPr/>
        </p:nvSpPr>
        <p:spPr>
          <a:xfrm>
            <a:off x="1524000" y="3366771"/>
            <a:ext cx="43428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3CC"/>
                </a:solidFill>
                <a:latin typeface="DM Sans" pitchFamily="34" charset="0"/>
                <a:ea typeface="DM Sans" pitchFamily="34" charset="-122"/>
                <a:cs typeface="DM Sans" pitchFamily="34" charset="-120"/>
              </a:rPr>
              <a:t>La revisión fila por fila se reemplaza por una carga de archivos.</a:t>
            </a:r>
            <a:endParaRPr lang="en-US" sz="1400" dirty="0"/>
          </a:p>
        </p:txBody>
      </p:sp>
      <p:sp>
        <p:nvSpPr>
          <p:cNvPr id="9" name="Shape 6"/>
          <p:cNvSpPr/>
          <p:nvPr/>
        </p:nvSpPr>
        <p:spPr>
          <a:xfrm>
            <a:off x="6197600" y="2787650"/>
            <a:ext cx="5181600" cy="1333500"/>
          </a:xfrm>
          <a:prstGeom prst="roundRect">
            <a:avLst>
              <a:gd name="adj" fmla="val 7619"/>
            </a:avLst>
          </a:prstGeom>
          <a:solidFill>
            <a:srgbClr val="3A3836"/>
          </a:solidFill>
          <a:ln/>
        </p:spPr>
      </p:sp>
      <p:pic>
        <p:nvPicPr>
          <p:cNvPr id="10" name="Image 1" descr="Verified">    </p:cNvPr>
          <p:cNvPicPr>
            <a:picLocks noChangeAspect="1"/>
          </p:cNvPicPr>
          <p:nvPr/>
        </p:nvPicPr>
        <p:blipFill>
          <a:blip r:embed="rId2"/>
          <a:srcRect l="0" r="0" t="0" b="0"/>
          <a:stretch/>
        </p:blipFill>
        <p:spPr>
          <a:xfrm>
            <a:off x="6451600" y="3041650"/>
            <a:ext cx="304800" cy="304800"/>
          </a:xfrm>
          <a:prstGeom prst="rect">
            <a:avLst/>
          </a:prstGeom>
        </p:spPr>
      </p:pic>
      <p:sp>
        <p:nvSpPr>
          <p:cNvPr id="11" name="Text 7"/>
          <p:cNvSpPr/>
          <p:nvPr/>
        </p:nvSpPr>
        <p:spPr>
          <a:xfrm>
            <a:off x="6908800" y="3041650"/>
            <a:ext cx="43428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DM Sans" pitchFamily="34" charset="0"/>
                <a:ea typeface="DM Sans" pitchFamily="34" charset="-122"/>
                <a:cs typeface="DM Sans" pitchFamily="34" charset="-120"/>
              </a:rPr>
              <a:t>Menos errores</a:t>
            </a:r>
            <a:endParaRPr lang="en-US" sz="1800" dirty="0"/>
          </a:p>
        </p:txBody>
      </p:sp>
      <p:sp>
        <p:nvSpPr>
          <p:cNvPr id="12" name="Text 8"/>
          <p:cNvSpPr/>
          <p:nvPr/>
        </p:nvSpPr>
        <p:spPr>
          <a:xfrm>
            <a:off x="6908800" y="3366771"/>
            <a:ext cx="43428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3CC"/>
                </a:solidFill>
                <a:latin typeface="DM Sans" pitchFamily="34" charset="0"/>
                <a:ea typeface="DM Sans" pitchFamily="34" charset="-122"/>
                <a:cs typeface="DM Sans" pitchFamily="34" charset="-120"/>
              </a:rPr>
              <a:t>Las mismas reglas se aplican igual a todas las facturas.</a:t>
            </a:r>
            <a:endParaRPr lang="en-US" sz="1400" dirty="0"/>
          </a:p>
        </p:txBody>
      </p:sp>
      <p:sp>
        <p:nvSpPr>
          <p:cNvPr id="13" name="Shape 9"/>
          <p:cNvSpPr/>
          <p:nvPr/>
        </p:nvSpPr>
        <p:spPr>
          <a:xfrm>
            <a:off x="812800" y="4318000"/>
            <a:ext cx="5181600" cy="1333500"/>
          </a:xfrm>
          <a:prstGeom prst="roundRect">
            <a:avLst>
              <a:gd name="adj" fmla="val 7619"/>
            </a:avLst>
          </a:prstGeom>
          <a:solidFill>
            <a:srgbClr val="3A3836"/>
          </a:solidFill>
          <a:ln/>
        </p:spPr>
      </p:sp>
      <p:pic>
        <p:nvPicPr>
          <p:cNvPr id="14" name="Image 2" descr="Search">    </p:cNvPr>
          <p:cNvPicPr>
            <a:picLocks noChangeAspect="1"/>
          </p:cNvPicPr>
          <p:nvPr/>
        </p:nvPicPr>
        <p:blipFill>
          <a:blip r:embed="rId3"/>
          <a:srcRect l="0" r="0" t="0" b="0"/>
          <a:stretch/>
        </p:blipFill>
        <p:spPr>
          <a:xfrm>
            <a:off x="1066800" y="4572000"/>
            <a:ext cx="304800" cy="304800"/>
          </a:xfrm>
          <a:prstGeom prst="rect">
            <a:avLst/>
          </a:prstGeom>
        </p:spPr>
      </p:pic>
      <p:sp>
        <p:nvSpPr>
          <p:cNvPr id="15" name="Text 10"/>
          <p:cNvSpPr/>
          <p:nvPr/>
        </p:nvSpPr>
        <p:spPr>
          <a:xfrm>
            <a:off x="1524000" y="4572000"/>
            <a:ext cx="43428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DM Sans" pitchFamily="34" charset="0"/>
                <a:ea typeface="DM Sans" pitchFamily="34" charset="-122"/>
                <a:cs typeface="DM Sans" pitchFamily="34" charset="-120"/>
              </a:rPr>
              <a:t>Foco en las excepciones</a:t>
            </a:r>
            <a:endParaRPr lang="en-US" sz="1800" dirty="0"/>
          </a:p>
        </p:txBody>
      </p:sp>
      <p:sp>
        <p:nvSpPr>
          <p:cNvPr id="16" name="Text 11"/>
          <p:cNvSpPr/>
          <p:nvPr/>
        </p:nvSpPr>
        <p:spPr>
          <a:xfrm>
            <a:off x="1524000" y="4897121"/>
            <a:ext cx="43428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3CC"/>
                </a:solidFill>
                <a:latin typeface="DM Sans" pitchFamily="34" charset="0"/>
                <a:ea typeface="DM Sans" pitchFamily="34" charset="-122"/>
                <a:cs typeface="DM Sans" pitchFamily="34" charset="-120"/>
              </a:rPr>
              <a:t>Solo se revisan las facturas con hallazgos, y ya con su causa.</a:t>
            </a:r>
            <a:endParaRPr lang="en-US" sz="1400" dirty="0"/>
          </a:p>
        </p:txBody>
      </p:sp>
      <p:sp>
        <p:nvSpPr>
          <p:cNvPr id="17" name="Shape 12"/>
          <p:cNvSpPr/>
          <p:nvPr/>
        </p:nvSpPr>
        <p:spPr>
          <a:xfrm>
            <a:off x="6197600" y="4318000"/>
            <a:ext cx="5181600" cy="1333500"/>
          </a:xfrm>
          <a:prstGeom prst="roundRect">
            <a:avLst>
              <a:gd name="adj" fmla="val 7619"/>
            </a:avLst>
          </a:prstGeom>
          <a:solidFill>
            <a:srgbClr val="3A3836"/>
          </a:solidFill>
          <a:ln/>
        </p:spPr>
      </p:sp>
      <p:pic>
        <p:nvPicPr>
          <p:cNvPr id="18" name="Image 3" descr="Trust">    </p:cNvPr>
          <p:cNvPicPr>
            <a:picLocks noChangeAspect="1"/>
          </p:cNvPicPr>
          <p:nvPr/>
        </p:nvPicPr>
        <p:blipFill>
          <a:blip r:embed="rId4"/>
          <a:srcRect l="0" r="0" t="0" b="0"/>
          <a:stretch/>
        </p:blipFill>
        <p:spPr>
          <a:xfrm>
            <a:off x="6451600" y="4572000"/>
            <a:ext cx="304800" cy="304800"/>
          </a:xfrm>
          <a:prstGeom prst="rect">
            <a:avLst/>
          </a:prstGeom>
        </p:spPr>
      </p:pic>
      <p:sp>
        <p:nvSpPr>
          <p:cNvPr id="19" name="Text 13"/>
          <p:cNvSpPr/>
          <p:nvPr/>
        </p:nvSpPr>
        <p:spPr>
          <a:xfrm>
            <a:off x="6908800" y="4572000"/>
            <a:ext cx="43428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DM Sans" pitchFamily="34" charset="0"/>
                <a:ea typeface="DM Sans" pitchFamily="34" charset="-122"/>
                <a:cs typeface="DM Sans" pitchFamily="34" charset="-120"/>
              </a:rPr>
              <a:t>Trazabilidad</a:t>
            </a:r>
            <a:endParaRPr lang="en-US" sz="1800" dirty="0"/>
          </a:p>
        </p:txBody>
      </p:sp>
      <p:sp>
        <p:nvSpPr>
          <p:cNvPr id="20" name="Text 14"/>
          <p:cNvSpPr/>
          <p:nvPr/>
        </p:nvSpPr>
        <p:spPr>
          <a:xfrm>
            <a:off x="6908800" y="4897121"/>
            <a:ext cx="43428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3CC"/>
                </a:solidFill>
                <a:latin typeface="DM Sans" pitchFamily="34" charset="0"/>
                <a:ea typeface="DM Sans" pitchFamily="34" charset="-122"/>
                <a:cs typeface="DM Sans" pitchFamily="34" charset="-120"/>
              </a:rPr>
              <a:t>Cada resultado queda explicado y es fácil de justificar.</a:t>
            </a:r>
            <a:endParaRPr lang="en-US" sz="1400" dirty="0"/>
          </a:p>
        </p:txBody>
      </p:sp>
    </p:spTree>
  </p:cSld>
  <p:clrMapOvr>
    <a:masterClrMapping/>
  </p:clrMapOvr>
</p:sld>
</file>

<file path=ppt/theme/theme1.xml><?xml version="1.0" encoding="utf-8"?>
<a:theme xmlns:a="http://schemas.openxmlformats.org/drawingml/2006/main" name="Conciliador de facturas y retenciones">
  <a:themeElements>
    <a:clrScheme name="Conciliador de facturas y retenciones">
      <a:dk1>
        <a:srgbClr val="2C2A29"/>
      </a:dk1>
      <a:lt1>
        <a:srgbClr val="F7F6F2"/>
      </a:lt1>
      <a:dk2>
        <a:srgbClr val="5F5D5B"/>
      </a:dk2>
      <a:lt2>
        <a:srgbClr val="E3E2DE"/>
      </a:lt2>
      <a:accent1>
        <a:srgbClr val="FDDA24"/>
      </a:accent1>
      <a:accent2>
        <a:srgbClr val="7A6400"/>
      </a:accent2>
      <a:accent3>
        <a:srgbClr val="D6D3CC"/>
      </a:accent3>
      <a:accent4>
        <a:srgbClr val="55524F"/>
      </a:accent4>
      <a:accent5>
        <a:srgbClr val="9AA0A6"/>
      </a:accent5>
      <a:accent6>
        <a:srgbClr val="7D7C79"/>
      </a:accent6>
      <a:hlink>
        <a:srgbClr val="0563C1"/>
      </a:hlink>
      <a:folHlink>
        <a:srgbClr val="954F72"/>
      </a:folHlink>
    </a:clrScheme>
    <a:fontScheme name="Conciliador de facturas y retencione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Conciliador de facturas y retenciones</dc:title>
  <dc:subject/>
  <dc:creator/>
  <cp:lastModifiedBy/>
  <cp:revision>1</cp:revision>
  <dcterms:created xsi:type="dcterms:W3CDTF">2026-10-16T04:58:32Z</dcterms:created>
  <dcterms:modified xsi:type="dcterms:W3CDTF">2026-10-16T04:58:32Z</dcterms:modified>
</cp:coreProperties>
</file>